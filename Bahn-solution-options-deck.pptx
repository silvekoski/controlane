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. We listened" id="{32a65ae8-77e4-2c91-db14-e764df6cb49a}">
          <p14:sldIdLst>
            <p14:sldId id="256"/>
            <p14:sldId id="257"/>
            <p14:sldId id="258"/>
            <p14:sldId id="259"/>
          </p14:sldIdLst>
        </p14:section>
        <p14:section name="B. The ideas" id="{f9da7583-183a-9780-a1d8-65d565db30a7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. The choice" id="{0a4df497-0966-7b0f-4466-feea3aaa5c7f}">
          <p14:sldIdLst>
            <p14:sldId id="269"/>
            <p14:sldId id="270"/>
            <p14:sldId id="271"/>
            <p14:sldId id="272"/>
          </p14:sldIdLst>
        </p14:section>
        <p14:section name="D. The ask" id="{3704ab24-7789-1666-a62f-9ebeb9926354}">
          <p14:sldIdLst>
            <p14:sldId id="273"/>
            <p14:sldId id="274"/>
          </p14:sldIdLst>
        </p14:section>
        <p14:section name="Appendix" id="{4159af77-ceca-c6b0-5c66-836ab1837996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eight ideas from listening to you today. We want your help choosing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scale, exceptions, chaining and the eval problem in 20 seconds. We use the brief's volume numbers, because the transcript also says 5,000 cars last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idea that follows is scored against exactly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this once, and the next eight slides are just this pattern in different places. The Reject + why button is the bridge to idea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ideas sit on the journey. One sits underneath all of them. Pins use the numbers from the proposal, so the team can say number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drivers accept the match in the app. Be honest: it needs two-sided consent and a pricing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 only on cost over limit or a moved pickup date. The driver is told without a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human moment in the normal case. We flag this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brief's own Bentley example, built. Say that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Flight status is already known, so the agent asks no question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question: may a driver plug a device into a customer car?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collected option. The agent calls back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an ops-area agent on its own. It needs one of ideas 1 to 7 to judge. Slide 16 handles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our first-pass ratings. Ask Bahn to correct the Bahn's pain column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left is where a two-day build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Ideas 4 and 5 are really the same agent before and after tracking starts. Idea 3 is a feature of idea 2. Idea 8 makes any of them better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pick: it matches the brief's own example. It gives the strongest control-room story. It fixes a constraint Bahn named (GPS only one hour before pickup). The eval layer answers Bahn's biggest stated pain. Deprioritized: 6 (hardware and legal unknowns), 7 (Bahn said low need), 3 (too narrow alone, fold into 2), 1 (needs two-sided consent and pricing changes).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has alerts and planning estimates, but no live GPS ping stream. Question 2 stays on the slide for this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figures differ: the brief says 25,000+ a year, T1 says over 5,000 last month. The slides use the brief. The transcript garbles the judge-model vendor name. Confirm the correct product and company name for idea 8 before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  ·  CONTROL ROOM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51206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Prompt Operations Hackathon  ·  24 to 25 Oct 2026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2860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EIGHT WAYS TO GIVE YOUR AGENTS MORE LEGWORK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Help us pick the one to build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166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Veikka Silvekoski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49440" y="1097280"/>
            <a:ext cx="1463040" cy="10058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7589520" y="2103120"/>
            <a:ext cx="822960" cy="128016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9520" y="3383280"/>
            <a:ext cx="1920240" cy="73152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8686800" y="4114800"/>
            <a:ext cx="822960" cy="13716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8686800" y="4937760"/>
            <a:ext cx="2194560" cy="5486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0881360" y="2651760"/>
            <a:ext cx="274320" cy="22860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 flipV="1">
            <a:off x="10241280" y="1188720"/>
            <a:ext cx="914400" cy="14630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2103120"/>
            <a:ext cx="2743200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7589520" y="3383280"/>
            <a:ext cx="3291840" cy="155448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6766560" y="914400"/>
            <a:ext cx="365760" cy="3657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12110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1920240"/>
            <a:ext cx="365760" cy="3657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12110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06640" y="320040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12110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0" y="3931920"/>
            <a:ext cx="365760" cy="365760"/>
          </a:xfrm>
          <a:prstGeom prst="ellipse">
            <a:avLst/>
          </a:prstGeom>
          <a:solidFill>
            <a:schemeClr val="accent4"/>
          </a:solidFill>
          <a:ln w="38100">
            <a:solidFill>
              <a:srgbClr val="12110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03920" y="5303520"/>
            <a:ext cx="365760" cy="36576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12110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98480" y="4754880"/>
            <a:ext cx="365760" cy="36576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12110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972800" y="2468880"/>
            <a:ext cx="365760" cy="36576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12110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058400" y="1005840"/>
            <a:ext cx="365760" cy="365760"/>
          </a:xfrm>
          <a:prstGeom prst="ellipse">
            <a:avLst/>
          </a:prstGeom>
          <a:solidFill>
            <a:schemeClr val="accent4"/>
          </a:solidFill>
          <a:ln w="38100">
            <a:solidFill>
              <a:srgbClr val="12110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What we heard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HARD PART IS THE CHAIN, NOT THE CASE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642616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25,000+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cars delivered a year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BR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55848" y="1828800"/>
            <a:ext cx="2642616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584448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~96%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584448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intra-FI orders run with no human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584448" y="3611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63056" y="1828800"/>
            <a:ext cx="2642616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91656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20-30%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391656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gigs are chained to another gig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91656" y="3611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70264" y="1828800"/>
            <a:ext cx="2642616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198864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~1 h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9198864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GPS starts before pickup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98864" y="3611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2976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6F7B"/>
                </a:solidFill>
              </a:rPr>
              <a:t>“Individual problems are simple. The problem comes with scale.”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881360" y="45902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T1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52120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6F7B"/>
                </a:solidFill>
              </a:rPr>
              <a:t>“Moving context from people's heads into evals is the job.”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0881360" y="55046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Your rules, our lens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HOW WE SCORED OUR OWN IDEAS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4370832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83080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room 40%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74336" y="1783080"/>
            <a:ext cx="3264408" cy="640080"/>
          </a:xfrm>
          <a:prstGeom prst="roundRect">
            <a:avLst>
              <a:gd name="adj" fmla="val 11429"/>
            </a:avLst>
          </a:prstGeom>
          <a:solidFill>
            <a:srgbClr val="1F6F7B"/>
          </a:solidFill>
          <a:ln w="12700">
            <a:solidFill>
              <a:srgbClr val="1F6F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57216" y="17830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How we used AI 30%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93608" y="1783080"/>
            <a:ext cx="3264408" cy="640080"/>
          </a:xfrm>
          <a:prstGeom prst="roundRect">
            <a:avLst>
              <a:gd name="adj" fmla="val 11429"/>
            </a:avLst>
          </a:prstGeom>
          <a:solidFill>
            <a:srgbClr val="B04617"/>
          </a:solidFill>
          <a:ln w="12700">
            <a:solidFill>
              <a:srgbClr val="B0461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76488" y="17830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Taste 30%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8620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2743200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agent never contacts a customer on its own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0881360" y="28895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BR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328416"/>
            <a:ext cx="1106424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472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328416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person says yes before bookings, dates, costs and customer messages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0881360" y="3474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BR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3250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913632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Asking and looking up need no yes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0881360" y="40599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BR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4498848"/>
            <a:ext cx="1106424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1772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80160" y="4498848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real model in a loop. Everything else can be mocked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0881360" y="46451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BR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5084064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02936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280160" y="5084064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Ops people, not engineers: no developer-tool look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10881360" y="52303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BR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48640" y="5669280"/>
            <a:ext cx="1106424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88152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280160" y="5669280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Must handle 100+ deliveries per person per day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10881360" y="5815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One pattern, eight places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CHEAP WORK FIRST, THEN ONE DECISION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Signal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377440" y="2103120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834640" y="18288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7B"/>
                </a:solidFill>
              </a:rPr>
              <a:t>Cheap checks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2103120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120640" y="182880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52"/>
                </a:solidFill>
              </a:rPr>
              <a:t>Finish quietly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49040" y="2377440"/>
            <a:ext cx="0" cy="5029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49040" y="2880360"/>
            <a:ext cx="1371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20640" y="26060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4617"/>
                </a:solidFill>
              </a:rPr>
              <a:t>Decision card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49440" y="2880360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06640" y="26060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Person decides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21040" y="3154680"/>
            <a:ext cx="0" cy="274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21040" y="3429000"/>
            <a:ext cx="0" cy="1828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406640" y="3611880"/>
            <a:ext cx="4206240" cy="502920"/>
          </a:xfrm>
          <a:prstGeom prst="roundRect">
            <a:avLst>
              <a:gd name="adj" fmla="val 18182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0" y="3611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7B"/>
                </a:solidFill>
              </a:rPr>
              <a:t>Outcome + reason logged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611880"/>
            <a:ext cx="5120640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72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A52"/>
                </a:solidFill>
              </a:rPr>
              <a:t>AGENT JUST DOES IT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114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Look up, ask the driver, ask the pickup place, log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777240" y="4892040"/>
            <a:ext cx="4663440" cy="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4617"/>
                </a:solidFill>
              </a:rPr>
              <a:t>PERSON SAYS YES FIRST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5349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Cost, date, booking, any customer message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035040" y="4343400"/>
            <a:ext cx="557784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263640" y="4480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DECISION CARD (MOCK)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263640" y="4754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 happened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long stop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 the agent found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service area, driver safe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Suggestion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Call the dealer about roadside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263640" y="5669280"/>
            <a:ext cx="146304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63640" y="5669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Accept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863840" y="56692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863840" y="5669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Change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464040" y="56692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5669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Reject + why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Where they fit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EIGHT IDEAS ACROSS ONE DELIVERY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 Dispatch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51760" y="2171700"/>
            <a:ext cx="1280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79776" y="18288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79776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 Travel to car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82896" y="2171700"/>
            <a:ext cx="1280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17520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602736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0273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187952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8795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10912" y="18288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10912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  Pickup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14032" y="2171700"/>
            <a:ext cx="1280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833872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3387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242048" y="18288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42048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7B"/>
                </a:solidFill>
              </a:rPr>
              <a:t>4  On the road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345168" y="2171700"/>
            <a:ext cx="12801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772400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357616" y="274320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5761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9473184" y="18288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73184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  Delivery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35204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35204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4617"/>
                </a:solidFill>
              </a:rPr>
              <a:t>LEARNING LAYER, UNDER EVERY AGENT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698480" y="3721608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69848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548640" y="483717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4837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1005840" y="4800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Carpooling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355848" y="483717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55848" y="4837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3813048" y="4800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Strike watch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163056" y="483717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163056" y="4837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620256" y="4800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Scooters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970264" y="483717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970264" y="4837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9427464" y="4800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GPS stop check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548640" y="547725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48640" y="5477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1005840" y="54406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Check-in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3355848" y="547725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355848" y="5477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3813048" y="54406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stick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163056" y="547725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163056" y="5477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6620256" y="54406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Voice desk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8970264" y="547725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970264" y="5477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9427464" y="54406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Judge every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383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338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05840" y="365760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6576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Dispatch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21992" y="365760"/>
            <a:ext cx="1527048" cy="256032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21992" y="36576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17"/>
                </a:solidFill>
              </a:rPr>
              <a:t>Own proposal</a:t>
            </a:r>
            <a:endParaRPr lang="en-US" sz="11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DRIVER CARPOOLING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Shared rides make domestic gigs cheaper to sell.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TODAY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0848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Drivers already arrange rides in a Telegram group. Bahn does not run this. Each driver travels to the car alone.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004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7B"/>
                </a:solidFill>
              </a:rPr>
              <a:t>“Drivers already arrange rides in a Telegram group. Bahn has not facilitated it, but said it could be a lever.”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HUMAN MOMENT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Both drivers accept the match in the app. No ops person is needed unless the buffer breaks.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7840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7957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87752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Bahn's pain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8775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8892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90088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98264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Control room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9826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9943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00600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08776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Demo w/ packet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087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994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11112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19288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New idea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0192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2045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2162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82980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risk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8298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03096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23213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69280" y="1828800"/>
            <a:ext cx="5943600" cy="2286000"/>
          </a:xfrm>
          <a:prstGeom prst="roundRect">
            <a:avLst>
              <a:gd name="adj" fmla="val 4000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612648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7B"/>
                </a:solidFill>
              </a:rPr>
              <a:t>Driver A delivers a car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217920" y="2514600"/>
            <a:ext cx="475488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94360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Espoo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Tampere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612648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4617"/>
                </a:solidFill>
              </a:rPr>
              <a:t>Driver B needs a ride to the next pickup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 flipH="1">
            <a:off x="6217920" y="3566160"/>
            <a:ext cx="475488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6108192" y="2404872"/>
            <a:ext cx="219456" cy="21945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863072" y="2404872"/>
            <a:ext cx="219456" cy="21945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108192" y="3456432"/>
            <a:ext cx="219456" cy="21945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863072" y="3456432"/>
            <a:ext cx="219456" cy="21945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943600" y="3721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Pickup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9235440" y="3721608"/>
            <a:ext cx="1728216" cy="256032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235440" y="372160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17"/>
                </a:solidFill>
              </a:rPr>
              <a:t>Buffer ≥ X min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669280" y="4343400"/>
            <a:ext cx="2743200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8" name="Text 55"/>
          <p:cNvSpPr txBox="1"/>
          <p:nvPr/>
        </p:nvSpPr>
        <p:spPr>
          <a:xfrm>
            <a:off x="589788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Fee before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58978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50 EUR</a:t>
            </a:r>
            <a:endParaRPr lang="en-US" sz="2600" dirty="0"/>
          </a:p>
        </p:txBody>
      </p:sp>
      <p:sp>
        <p:nvSpPr>
          <p:cNvPr id="60" name="Shape 57"/>
          <p:cNvSpPr/>
          <p:nvPr/>
        </p:nvSpPr>
        <p:spPr>
          <a:xfrm>
            <a:off x="8412480" y="489204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1" name="Shape 58"/>
          <p:cNvSpPr/>
          <p:nvPr/>
        </p:nvSpPr>
        <p:spPr>
          <a:xfrm>
            <a:off x="8869680" y="43434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E9F6EF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62" name="Text 59"/>
          <p:cNvSpPr txBox="1"/>
          <p:nvPr/>
        </p:nvSpPr>
        <p:spPr>
          <a:xfrm>
            <a:off x="909828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7A52"/>
                </a:solidFill>
              </a:rPr>
              <a:t>Fee after</a:t>
            </a:r>
            <a:endParaRPr lang="en-US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90982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7A5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Lower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383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338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05840" y="365760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65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Driver travel</a:t>
            </a:r>
            <a:endParaRPr lang="en-US" sz="11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RAIL STRIKE WATCH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Find out about the strike before the train fails.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TODAY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848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strike on a train leg breaks the driver's trip to the car. Someone finds out late and re-plans by hand.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004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7B"/>
                </a:solidFill>
              </a:rPr>
              <a:t>“Strikes in Central Europe were named as useful to monitor. Deutsche Bahn was called "the final boss".”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HUMAN MOMENT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person approves only if the new plan costs more than a limit or moves the pickup date.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7840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795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87752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Bahn's pain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8775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8892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90088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98264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Control room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39826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9943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006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08776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Demo w/ packet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087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994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1111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19288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New idea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192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2045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421624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82980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risk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98298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03096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3213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Landing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949440" y="1810512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9494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2C42"/>
                </a:solidFill>
              </a:rPr>
              <a:t>TRAIN LEG — STRIKE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042416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Pickup slot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69280" y="2468880"/>
            <a:ext cx="1408176" cy="1737360"/>
          </a:xfrm>
          <a:prstGeom prst="roundRect">
            <a:avLst>
              <a:gd name="adj" fmla="val 6494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58064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Bus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580644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+40 min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5806440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4617"/>
                </a:solidFill>
              </a:rPr>
              <a:t>+12 EUR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7168896" y="2468880"/>
            <a:ext cx="1408176" cy="1737360"/>
          </a:xfrm>
          <a:prstGeom prst="roundRect">
            <a:avLst>
              <a:gd name="adj" fmla="val 6494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7306056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Taxi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7306056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+0 min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7306056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4617"/>
                </a:solidFill>
              </a:rPr>
              <a:t>+85 EUR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8668512" y="2468880"/>
            <a:ext cx="1408176" cy="1737360"/>
          </a:xfrm>
          <a:prstGeom prst="roundRect">
            <a:avLst>
              <a:gd name="adj" fmla="val 6494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8805672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Later train</a:t>
            </a:r>
            <a:endParaRPr lang="en-US" sz="1300" dirty="0"/>
          </a:p>
        </p:txBody>
      </p:sp>
      <p:sp>
        <p:nvSpPr>
          <p:cNvPr id="55" name="Text 52"/>
          <p:cNvSpPr txBox="1"/>
          <p:nvPr/>
        </p:nvSpPr>
        <p:spPr>
          <a:xfrm>
            <a:off x="8805672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+2 h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8805672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4617"/>
                </a:solidFill>
              </a:rPr>
              <a:t>+0 EUR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10168128" y="2468880"/>
            <a:ext cx="1408176" cy="1737360"/>
          </a:xfrm>
          <a:prstGeom prst="roundRect">
            <a:avLst>
              <a:gd name="adj" fmla="val 6494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8" name="Text 55"/>
          <p:cNvSpPr txBox="1"/>
          <p:nvPr/>
        </p:nvSpPr>
        <p:spPr>
          <a:xfrm>
            <a:off x="10305288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Other airport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10305288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+1 h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10305288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4617"/>
                </a:solidFill>
              </a:rPr>
              <a:t>+60 EUR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5669280" y="452628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760720" y="4526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52"/>
                </a:solidFill>
              </a:rPr>
              <a:t>Driver is told. No yes needed.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8686800" y="452628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778240" y="4526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4617"/>
                </a:solidFill>
              </a:rPr>
              <a:t>Cost over limit. A person says yes.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383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338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05840" y="365760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65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Driver travel</a:t>
            </a:r>
            <a:endParaRPr lang="en-US" sz="11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SCOOTERS FOR THE LAST KILOMETER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Correct arrival times where Google Routes guesses wrong.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TODAY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848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last leg is planned with Google Routes. Scooters are not in the system, so times for short hops are off.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004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7B"/>
                </a:solidFill>
              </a:rPr>
              <a:t>“Scooters are not in the system yet. Bahn said it "would be sick". The last leg uses Google Routes today.”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HUMAN MOMENT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None in the normal case. The driver chooses. We say this plainly on the slide.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7840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7957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87752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Bahn's pain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8775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88920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90088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98264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Control room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39826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99432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00600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08776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Demo w/ packet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087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994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11112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19288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New idea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192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2045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421624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82980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risk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98298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03096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3213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Station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069848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Pickup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492240" y="1965960"/>
            <a:ext cx="411480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dash"/>
          </a:ln>
        </p:spPr>
      </p:sp>
      <p:sp>
        <p:nvSpPr>
          <p:cNvPr id="44" name="Text 41"/>
          <p:cNvSpPr txBox="1"/>
          <p:nvPr/>
        </p:nvSpPr>
        <p:spPr>
          <a:xfrm>
            <a:off x="795528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3.5 km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69280" y="246888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585216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Bus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585216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38 min</a:t>
            </a:r>
            <a:endParaRPr lang="en-US" sz="2200" dirty="0"/>
          </a:p>
        </p:txBody>
      </p:sp>
      <p:sp>
        <p:nvSpPr>
          <p:cNvPr id="48" name="Text 45"/>
          <p:cNvSpPr txBox="1"/>
          <p:nvPr/>
        </p:nvSpPr>
        <p:spPr>
          <a:xfrm>
            <a:off x="58521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4 EUR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7680960" y="2468880"/>
            <a:ext cx="192024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786384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Taxi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786384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 min</a:t>
            </a:r>
            <a:endParaRPr lang="en-US" sz="2200" dirty="0"/>
          </a:p>
        </p:txBody>
      </p:sp>
      <p:sp>
        <p:nvSpPr>
          <p:cNvPr id="52" name="Text 49"/>
          <p:cNvSpPr txBox="1"/>
          <p:nvPr/>
        </p:nvSpPr>
        <p:spPr>
          <a:xfrm>
            <a:off x="78638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22 EUR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9692640" y="246888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E9F5F7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98755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7B"/>
                </a:solidFill>
              </a:rPr>
              <a:t>Scooter *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987552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14 min</a:t>
            </a:r>
            <a:endParaRPr lang="en-US" sz="2200" dirty="0"/>
          </a:p>
        </p:txBody>
      </p:sp>
      <p:sp>
        <p:nvSpPr>
          <p:cNvPr id="56" name="Text 53"/>
          <p:cNvSpPr txBox="1"/>
          <p:nvPr/>
        </p:nvSpPr>
        <p:spPr>
          <a:xfrm>
            <a:off x="98755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6 EUR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566928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AGENT CHECKS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5669280" y="4846320"/>
            <a:ext cx="1527048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669280" y="484632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Free scooter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7306056" y="4846320"/>
            <a:ext cx="1426464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306056" y="48463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Inside zone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842248" y="4846320"/>
            <a:ext cx="1728216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842248" y="484632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Legal end spot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383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338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05840" y="365760"/>
            <a:ext cx="1426464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6576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On the road</a:t>
            </a:r>
            <a:endParaRPr lang="en-US" sz="11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GPS STOP CHECK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Every long stop gets checked. People see only the real ones.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TODAY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848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Long stops on the road are hard to judge. Most are harmless. A few are a breakdown that puts the delivery at risk.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004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7B"/>
                </a:solidFill>
              </a:rPr>
              <a:t>“Bahn does not use agents for monitoring yet. A places lookup on long stops would be interesting for this challenge.”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HUMAN MOMENT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Breakdown or delivery at risk: one decision card. A customer message goes out only after approval.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7840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795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87752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Bahn's pain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8775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8892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900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98264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Control room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39826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9943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006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08776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Demo w/ packet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087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994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1111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19288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New idea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192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2045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421624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82980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risk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98298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03096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3213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98080" y="18288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58952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Long unplanned stop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 flipH="1">
            <a:off x="6629400" y="2240280"/>
            <a:ext cx="2011680" cy="3657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69280" y="2606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779008" y="26700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7A52"/>
                </a:solidFill>
              </a:rPr>
              <a:t>Gas station, ETA safe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5779008" y="31272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7A52"/>
                </a:solidFill>
              </a:rPr>
              <a:t>Log. Stay quiet.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641080" y="2240280"/>
            <a:ext cx="0" cy="3657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680960" y="2606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790688" y="26700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4617"/>
                </a:solidFill>
              </a:rPr>
              <a:t>Odd place or stale GPS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7790688" y="31272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4617"/>
                </a:solidFill>
              </a:rPr>
              <a:t>Ask the driver. No answer: raise.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641080" y="2240280"/>
            <a:ext cx="2011680" cy="3657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692640" y="26060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802368" y="26700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2C42"/>
                </a:solidFill>
              </a:rPr>
              <a:t>Breakdown or ETA at risk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802368" y="31272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2C42"/>
                </a:solidFill>
              </a:rPr>
              <a:t>Decision card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5669280" y="3886200"/>
            <a:ext cx="5943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5897880" y="400507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 stopped 42 min, A7 service area. Driver safe. Red warning light (photo). ETA +1 day. Chained gig at risk. Suggest: call dealer about roadside or a tow.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897880" y="489204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897880" y="4892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Accept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7498080" y="48920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498080" y="4892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Change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9098280" y="48920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098280" y="4892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Reject + why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383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338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05840" y="365760"/>
            <a:ext cx="1426464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6576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On the road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23744" y="36576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23744" y="365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Live monitoring</a:t>
            </a:r>
            <a:endParaRPr lang="en-US" sz="11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CHECK-IN BEFORE GPS STARTS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Know a driver is moving hours before tracking is allowed.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TODAY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0848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GPS starts about one hour before pickup. For far pickups that is too late to see a problem.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004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7B"/>
                </a:solidFill>
              </a:rPr>
              <a:t>“GPS turns on about an hour before pickup because drivers dislike earlier tracking. Bahn suggested in-app notifications.”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HUMAN MOMENT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answer after the reminder: repost the gig, or ask the pickup place to move the slot.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7840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795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87752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Bahn's pain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8775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8892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90088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98264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Control room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9826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9943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006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08776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Demo w/ packet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087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994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1111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19288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New idea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0192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2045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2162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82980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risk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8298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03096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23213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69280" y="2331720"/>
            <a:ext cx="5943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326880" y="219456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E9F5F7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32688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B"/>
                </a:solidFill>
              </a:rPr>
              <a:t>GPS window · 1 h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669280" y="2240280"/>
            <a:ext cx="182880" cy="18288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257800" y="2560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Leave home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257800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Check-in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949440" y="2240280"/>
            <a:ext cx="182880" cy="18288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537960" y="2560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Airport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537960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Check-in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321040" y="2240280"/>
            <a:ext cx="182880" cy="18288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909560" y="2560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Landing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7909560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Flight status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11247120" y="2240280"/>
            <a:ext cx="182880" cy="18288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835640" y="2560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Pickup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669280" y="37490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760720" y="3749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Flight status is already known. No question to the driver.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8778240" y="3200400"/>
            <a:ext cx="2194560" cy="2286000"/>
          </a:xfrm>
          <a:prstGeom prst="roundRect">
            <a:avLst>
              <a:gd name="adj" fmla="val 10417"/>
            </a:avLst>
          </a:prstGeom>
          <a:solidFill>
            <a:schemeClr val="bg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00684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Are you on your way?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9006840" y="4343400"/>
            <a:ext cx="173736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006840" y="43434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Yes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9006840" y="4818888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006840" y="48188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Share location once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383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338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05840" y="365760"/>
            <a:ext cx="1426464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6576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On the road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23744" y="365760"/>
            <a:ext cx="1527048" cy="256032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23744" y="36576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17"/>
                </a:solidFill>
              </a:rPr>
              <a:t>Own proposal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42232" y="365760"/>
            <a:ext cx="1728216" cy="256032"/>
          </a:xfrm>
          <a:prstGeom prst="roundRect">
            <a:avLst>
              <a:gd name="adj" fmla="val 50000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42232" y="36576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C42"/>
                </a:solidFill>
              </a:rPr>
              <a:t>Needs hardware</a:t>
            </a:r>
            <a:endParaRPr lang="en-US" sz="11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PLUG-IN CAR DATA STICK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decision card shows the exact fault, not a blurry photo.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TODAY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0848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driver sends a photo of a warning light. The ops person guesses the fault and its severity.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2004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7B"/>
                </a:solidFill>
              </a:rPr>
              <a:t>“Manufacturer APIs cost around 100 EUR per car. Bahn was unsure about a stick, but said it would be great if it works.”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HUMAN MOMENT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same decision card as idea 4, now with a fault code and a severity.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7724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724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7840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7957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87752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Bahn's pain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58775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8892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90088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98264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Control room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39826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9943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800600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08776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Demo w/ packet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2087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9944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11112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19288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New idea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0192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2045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2162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82980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risk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8298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030968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23213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669280" y="1828800"/>
            <a:ext cx="1005840" cy="109728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5715000" y="18288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Stick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675120" y="237744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903720" y="1828800"/>
            <a:ext cx="1005840" cy="109728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6949440" y="18288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Car port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09560" y="237744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8138160" y="1828800"/>
            <a:ext cx="1005840" cy="109728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8183880" y="18288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Driver app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9144000" y="237744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9372600" y="1828800"/>
            <a:ext cx="1005840" cy="109728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5" name="Text 52"/>
          <p:cNvSpPr txBox="1"/>
          <p:nvPr/>
        </p:nvSpPr>
        <p:spPr>
          <a:xfrm>
            <a:off x="9418320" y="18288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Agent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10378440" y="237744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10607040" y="1828800"/>
            <a:ext cx="1005840" cy="1097280"/>
          </a:xfrm>
          <a:prstGeom prst="roundRect">
            <a:avLst>
              <a:gd name="adj" fmla="val 9091"/>
            </a:avLst>
          </a:prstGeom>
          <a:solidFill>
            <a:srgbClr val="FFF1EA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8" name="Text 55"/>
          <p:cNvSpPr txBox="1"/>
          <p:nvPr/>
        </p:nvSpPr>
        <p:spPr>
          <a:xfrm>
            <a:off x="10652760" y="18288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17"/>
                </a:solidFill>
              </a:rPr>
              <a:t>Decision card + code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630936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plug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804672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Bluetooth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5669280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STICK READS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669280" y="374904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669280" y="3749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Fault code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7086600" y="374904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70866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Fuel or battery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9006840" y="3749040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006840" y="37490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Mileage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10122408" y="374904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122408" y="3749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Speed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5669280" y="4343400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897880" y="4462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4617"/>
                </a:solidFill>
              </a:rPr>
              <a:t>OPEN QUESTION</a:t>
            </a:r>
            <a:endParaRPr lang="en-US" sz="1100" dirty="0"/>
          </a:p>
        </p:txBody>
      </p:sp>
      <p:sp>
        <p:nvSpPr>
          <p:cNvPr id="72" name="Text 69"/>
          <p:cNvSpPr txBox="1"/>
          <p:nvPr/>
        </p:nvSpPr>
        <p:spPr>
          <a:xfrm>
            <a:off x="589788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4617"/>
                </a:solidFill>
              </a:rPr>
              <a:t>May a driver plug a device into a customer car?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383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338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05840" y="365760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657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Driver travel</a:t>
            </a:r>
            <a:endParaRPr lang="en-US" sz="11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VOICE AGENT FOR FERRY AND AIRLINE DESKS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agent makes the boring phone call and brings back options.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TODAY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848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Someone calls a ferry or airline desk to ask for space, a new slot or a name change.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004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7B"/>
                </a:solidFill>
              </a:rPr>
              <a:t>“Voice agents already call pickup places, not travel desks. Bahn said this is usually a small need, since most changes work online.”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HUMAN MOMENT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person picks one of the collected options. The agent then calls back to confirm.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7840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7957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87752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Bahn's pain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8775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88920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90088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98264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Control room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39826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9943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00600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08776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Demo w/ packet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087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994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11112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19288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New idea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192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2045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421624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82980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risk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98298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03096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3213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669280" y="1828800"/>
            <a:ext cx="4389120" cy="475488"/>
          </a:xfrm>
          <a:prstGeom prst="roundRect">
            <a:avLst>
              <a:gd name="adj" fmla="val 26923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852160" y="18288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B"/>
                </a:solidFill>
              </a:rPr>
              <a:t>Agent  </a:t>
            </a:r>
            <a:pPr indent="0" marL="0">
              <a:buNone/>
            </a:pPr>
            <a:r>
              <a:rPr lang="en-US" sz="1200" dirty="0">
                <a:solidFill>
                  <a:srgbClr val="1F6F7B"/>
                </a:solidFill>
              </a:rPr>
              <a:t>Is there space for one car on tonight's ship?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223760" y="2395728"/>
            <a:ext cx="4389120" cy="475488"/>
          </a:xfrm>
          <a:prstGeom prst="roundRect">
            <a:avLst>
              <a:gd name="adj" fmla="val 26923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406640" y="239572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Desk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Tonight is full. 07:30 tomorrow has space.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69280" y="2962656"/>
            <a:ext cx="4389120" cy="475488"/>
          </a:xfrm>
          <a:prstGeom prst="roundRect">
            <a:avLst>
              <a:gd name="adj" fmla="val 26923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52160" y="296265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B"/>
                </a:solidFill>
              </a:rPr>
              <a:t>Agent  </a:t>
            </a:r>
            <a:pPr indent="0" marL="0">
              <a:buNone/>
            </a:pPr>
            <a:r>
              <a:rPr lang="en-US" sz="1200" dirty="0">
                <a:solidFill>
                  <a:srgbClr val="1F6F7B"/>
                </a:solidFill>
              </a:rPr>
              <a:t>What does a name change cost?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223760" y="3529584"/>
            <a:ext cx="4389120" cy="475488"/>
          </a:xfrm>
          <a:prstGeom prst="roundRect">
            <a:avLst>
              <a:gd name="adj" fmla="val 26923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406640" y="352958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Desk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35 EUR.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669280" y="4297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OPTIONS FOR A PERSON TO PICK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5669280" y="457200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5852160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07:30 tomorrow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5852160" y="5029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+35 EUR, hotel needed?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8686800" y="457200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8869680" y="4663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19:00 tomorrow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869680" y="5029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+35 EUR, no hotel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383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338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005840" y="365760"/>
            <a:ext cx="1728216" cy="256032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6576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17"/>
                </a:solidFill>
              </a:rPr>
              <a:t>Learning layer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25496" y="365760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25496" y="365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Sits under any agent</a:t>
            </a:r>
            <a:endParaRPr lang="en-US" sz="11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JUDGE EVERY RUN WITH JEV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Every rejection and odd run becomes the next eval, automatically.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TODAY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0848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Knowledge sits in people's heads. New eval cases come from hand-labeling, which does not scale.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004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7B"/>
                </a:solidFill>
              </a:rPr>
              <a:t>“Bahn's biggest stated eval pain: get knowledge out of people's heads and find new eval cases at scale, with no hand-labeling.”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F7B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T2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HUMAN MOMENT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operator's "Reject + why" on any decision card. Area experts see only unclear drafts.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AF8F2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78408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7957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87752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Bahn's pain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8775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8892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900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398264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Control room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9826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99432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00600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08776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Demo w/ packet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0877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994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11112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19288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New idea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01928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20456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421624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829800" y="5733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Low risk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829800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030968" y="6007608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232136" y="6007608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69280" y="18288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5742432" y="18288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Agent run trace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196328" y="18288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9F5F7"/>
          </a:solidFill>
          <a:ln w="12700">
            <a:solidFill>
              <a:srgbClr val="1F6F7B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269480" y="18288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Typed checks, every run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723376" y="18288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FF1EA"/>
          </a:solidFill>
          <a:ln w="12700">
            <a:solidFill>
              <a:srgbClr val="B04617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8796528" y="18288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17"/>
                </a:solidFill>
              </a:rPr>
              <a:t>Eval candidate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10250424" y="18288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9F5F7"/>
          </a:solidFill>
          <a:ln w="12700">
            <a:solidFill>
              <a:srgbClr val="1F6F7B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10323576" y="182880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Draft eval (LLM)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0250424" y="30175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9F6EF"/>
          </a:solidFill>
          <a:ln w="12700">
            <a:solidFill>
              <a:srgbClr val="1B7A52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10323576" y="3017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52"/>
                </a:solidFill>
              </a:rPr>
              <a:t>Eval set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723376" y="30175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4" name="Text 51"/>
          <p:cNvSpPr txBox="1"/>
          <p:nvPr/>
        </p:nvSpPr>
        <p:spPr>
          <a:xfrm>
            <a:off x="8796528" y="3017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Area expert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7196328" y="30175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9F5F7"/>
          </a:solidFill>
          <a:ln w="12700">
            <a:solidFill>
              <a:srgbClr val="1F6F7B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7269480" y="3017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New typed check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7196328" y="420624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FF1EA"/>
          </a:solidFill>
          <a:ln w="12700">
            <a:solidFill>
              <a:srgbClr val="B04617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8" name="Text 55"/>
          <p:cNvSpPr txBox="1"/>
          <p:nvPr/>
        </p:nvSpPr>
        <p:spPr>
          <a:xfrm>
            <a:off x="7269480" y="420624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17"/>
                </a:solidFill>
              </a:rPr>
              <a:t>Operator: Reject + why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7040880" y="2194560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8567928" y="2194560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1" name="Shape 58"/>
          <p:cNvSpPr/>
          <p:nvPr/>
        </p:nvSpPr>
        <p:spPr>
          <a:xfrm>
            <a:off x="10094976" y="2194560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10570464" y="256032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3" name="Text 60"/>
          <p:cNvSpPr txBox="1"/>
          <p:nvPr/>
        </p:nvSpPr>
        <p:spPr>
          <a:xfrm>
            <a:off x="10616184" y="2670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7A52"/>
                </a:solidFill>
              </a:rPr>
              <a:t>clear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 flipH="1">
            <a:off x="9729216" y="2560320"/>
            <a:ext cx="1527048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5" name="Text 62"/>
          <p:cNvSpPr txBox="1"/>
          <p:nvPr/>
        </p:nvSpPr>
        <p:spPr>
          <a:xfrm>
            <a:off x="9592056" y="2670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unclear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723376" y="3383280"/>
            <a:ext cx="15270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7" name="Shape 64"/>
          <p:cNvSpPr/>
          <p:nvPr/>
        </p:nvSpPr>
        <p:spPr>
          <a:xfrm flipV="1">
            <a:off x="7882128" y="3749040"/>
            <a:ext cx="0" cy="457200"/>
          </a:xfrm>
          <a:prstGeom prst="line">
            <a:avLst/>
          </a:prstGeom>
          <a:noFill/>
          <a:ln w="19050">
            <a:solidFill>
              <a:srgbClr val="B04617"/>
            </a:solidFill>
            <a:prstDash val="solid"/>
            <a:tailEnd type="triangle"/>
          </a:ln>
        </p:spPr>
      </p:sp>
      <p:sp>
        <p:nvSpPr>
          <p:cNvPr id="68" name="Shape 65"/>
          <p:cNvSpPr/>
          <p:nvPr/>
        </p:nvSpPr>
        <p:spPr>
          <a:xfrm flipV="1">
            <a:off x="7882128" y="2560320"/>
            <a:ext cx="0" cy="457200"/>
          </a:xfrm>
          <a:prstGeom prst="line">
            <a:avLst/>
          </a:prstGeom>
          <a:noFill/>
          <a:ln w="19050">
            <a:solidFill>
              <a:srgbClr val="1F6F7B"/>
            </a:solidFill>
            <a:prstDash val="solid"/>
            <a:tailEnd type="triangle"/>
          </a:ln>
        </p:spPr>
      </p:sp>
      <p:sp>
        <p:nvSpPr>
          <p:cNvPr id="69" name="Text 66"/>
          <p:cNvSpPr txBox="1"/>
          <p:nvPr/>
        </p:nvSpPr>
        <p:spPr>
          <a:xfrm>
            <a:off x="5669280" y="50749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Checks catch e.g. "quote treated as a booking?" and "right escalation level?"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Side by side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HOW THEY COMPARE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32918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Brief fit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Bahn's pain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Control room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Demo w/ packet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New idea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1498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Low risk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10972800" cy="402336"/>
          </a:xfrm>
          <a:prstGeom prst="roundRect">
            <a:avLst>
              <a:gd name="adj" fmla="val 18182"/>
            </a:avLst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1488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  Carpooling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62172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63340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64508" y="2286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33772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34940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36108" y="2286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5372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06540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07708" y="2286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6972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78140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79308" y="2286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8572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349740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550908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520172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721340" y="2286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922508" y="2286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2606040"/>
            <a:ext cx="1097280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" y="26060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  Strike watch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662172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63340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64508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33772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234940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36108" y="2743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5372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606540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807708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776972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78140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179308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148572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349740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550908" y="2743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520172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721340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922508" y="2743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48640" y="3063240"/>
            <a:ext cx="10972800" cy="402336"/>
          </a:xfrm>
          <a:prstGeom prst="roundRect">
            <a:avLst>
              <a:gd name="adj" fmla="val 18182"/>
            </a:avLst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31520" y="3063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  Scooters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3662172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863340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064508" y="3200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033772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234940" y="3200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436108" y="3200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405372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606540" y="3200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807708" y="3200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776972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978140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179308" y="3200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148572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349740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550908" y="3200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520172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721340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922508" y="3200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8640" y="3520440"/>
            <a:ext cx="10972800" cy="402336"/>
          </a:xfrm>
          <a:prstGeom prst="roundRect">
            <a:avLst>
              <a:gd name="adj" fmla="val 18182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31520" y="35204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  GPS stop check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3662172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863340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064508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033772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234940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436108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405372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606540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807708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776972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978140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79308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148572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349740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9550908" y="36576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0520172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0721340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0922508" y="36576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48640" y="3977640"/>
            <a:ext cx="10972800" cy="402336"/>
          </a:xfrm>
          <a:prstGeom prst="roundRect">
            <a:avLst>
              <a:gd name="adj" fmla="val 18182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731520" y="39776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   Check-in</a:t>
            </a:r>
            <a:endParaRPr lang="en-US" sz="1400" dirty="0"/>
          </a:p>
        </p:txBody>
      </p:sp>
      <p:sp>
        <p:nvSpPr>
          <p:cNvPr id="93" name="Shape 90"/>
          <p:cNvSpPr/>
          <p:nvPr/>
        </p:nvSpPr>
        <p:spPr>
          <a:xfrm>
            <a:off x="3662172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3863340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064508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033772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5234940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5436108" y="41148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6405372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606540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807708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776972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978140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179308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9148572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349740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550908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520172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721340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922508" y="41148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48640" y="4434840"/>
            <a:ext cx="1097280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731520" y="44348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  Data stick</a:t>
            </a:r>
            <a:endParaRPr lang="en-US" sz="1400" dirty="0"/>
          </a:p>
        </p:txBody>
      </p:sp>
      <p:sp>
        <p:nvSpPr>
          <p:cNvPr id="113" name="Shape 110"/>
          <p:cNvSpPr/>
          <p:nvPr/>
        </p:nvSpPr>
        <p:spPr>
          <a:xfrm>
            <a:off x="3662172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3863340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064508" y="4572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5033772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5234940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5436108" y="4572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405372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606540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6807708" y="4572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7776972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7978140" y="4572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8179308" y="4572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9148572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349740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9550908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0520172" y="45720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10721340" y="4572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0922508" y="45720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548640" y="4892040"/>
            <a:ext cx="10972800" cy="402336"/>
          </a:xfrm>
          <a:prstGeom prst="roundRect">
            <a:avLst>
              <a:gd name="adj" fmla="val 18182"/>
            </a:avLst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sp>
        <p:nvSpPr>
          <p:cNvPr id="132" name="Text 129"/>
          <p:cNvSpPr txBox="1"/>
          <p:nvPr/>
        </p:nvSpPr>
        <p:spPr>
          <a:xfrm>
            <a:off x="731520" y="48920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  Voice desk</a:t>
            </a:r>
            <a:endParaRPr lang="en-US" sz="1400" dirty="0"/>
          </a:p>
        </p:txBody>
      </p:sp>
      <p:sp>
        <p:nvSpPr>
          <p:cNvPr id="133" name="Shape 130"/>
          <p:cNvSpPr/>
          <p:nvPr/>
        </p:nvSpPr>
        <p:spPr>
          <a:xfrm>
            <a:off x="3662172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3863340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4064508" y="5029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5033772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234940" y="5029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436108" y="5029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6405372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6606540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807708" y="5029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7776972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7978140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8179308" y="5029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9148572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9349740" y="5029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9550908" y="5029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10520172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10721340" y="50292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10922508" y="50292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48640" y="5349240"/>
            <a:ext cx="10972800" cy="402336"/>
          </a:xfrm>
          <a:prstGeom prst="roundRect">
            <a:avLst>
              <a:gd name="adj" fmla="val 18182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152" name="Text 149"/>
          <p:cNvSpPr txBox="1"/>
          <p:nvPr/>
        </p:nvSpPr>
        <p:spPr>
          <a:xfrm>
            <a:off x="731520" y="5349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   Judge every run</a:t>
            </a:r>
            <a:endParaRPr lang="en-US" sz="1400" dirty="0"/>
          </a:p>
        </p:txBody>
      </p:sp>
      <p:sp>
        <p:nvSpPr>
          <p:cNvPr id="153" name="Shape 150"/>
          <p:cNvSpPr/>
          <p:nvPr/>
        </p:nvSpPr>
        <p:spPr>
          <a:xfrm>
            <a:off x="3662172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3863340" y="5486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064508" y="5486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033772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234940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436108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405372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6606540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6807708" y="5486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7776972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7978140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8179308" y="5486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9148572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349740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550908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10520172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0721340" y="5486400"/>
            <a:ext cx="137160" cy="1371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0922508" y="5486400"/>
            <a:ext cx="137160" cy="137160"/>
          </a:xfrm>
          <a:prstGeom prst="ellipse">
            <a:avLst/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71" name="Text 16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Brief fit: matches one of the four listed areas. Bahn's pain: how strongly Bahn asked for it (T1-T3). Control room: how much it shows people and agents handing over work (40%). Demo w/ packet: buildable in two days with the given data. New idea: Bahn prefers fresh takes (T2). Low risk: fewer unknowns in hardware, law and third parties.</a:t>
            </a:r>
            <a:endParaRPr lang="en-US" sz="1000" dirty="0"/>
          </a:p>
        </p:txBody>
      </p:sp>
      <p:sp>
        <p:nvSpPr>
          <p:cNvPr id="172" name="Text 169"/>
          <p:cNvSpPr txBox="1"/>
          <p:nvPr/>
        </p:nvSpPr>
        <p:spPr>
          <a:xfrm>
            <a:off x="859536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Idea 8 is not one of the four areas by itself. It pairs with an ops agent.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Value vs effort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WHERE TWO DAYS GO FURTHEST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033272" y="1856232"/>
            <a:ext cx="3328416" cy="2002536"/>
          </a:xfrm>
          <a:prstGeom prst="roundRect">
            <a:avLst>
              <a:gd name="adj" fmla="val 4566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A52"/>
                </a:solidFill>
              </a:rPr>
              <a:t>BUILD NOW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16552" y="1856232"/>
            <a:ext cx="3328416" cy="2002536"/>
          </a:xfrm>
          <a:prstGeom prst="roundRect">
            <a:avLst>
              <a:gd name="adj" fmla="val 4566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7B"/>
                </a:solidFill>
              </a:rPr>
              <a:t>BIG BET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33272" y="3913632"/>
            <a:ext cx="3328416" cy="2002536"/>
          </a:xfrm>
          <a:prstGeom prst="roundRect">
            <a:avLst>
              <a:gd name="adj" fmla="val 4566"/>
            </a:avLst>
          </a:prstGeom>
          <a:solidFill>
            <a:srgbClr val="FAF8F2"/>
          </a:solidFill>
          <a:ln w="12700">
            <a:solidFill>
              <a:srgbClr val="FAF8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8872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NICE TO HAVE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16552" y="3913632"/>
            <a:ext cx="3328416" cy="2002536"/>
          </a:xfrm>
          <a:prstGeom prst="roundRect">
            <a:avLst>
              <a:gd name="adj" fmla="val 4566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SKIP FOR NOW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" y="1828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High value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" y="5669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Low value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Low effort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High effort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33872" y="4668012"/>
            <a:ext cx="493776" cy="49377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33872" y="46680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112264" y="3310128"/>
            <a:ext cx="493776" cy="49377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112264" y="33101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773936" y="4668012"/>
            <a:ext cx="493776" cy="49377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73936" y="46680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773936" y="2610612"/>
            <a:ext cx="493776" cy="49377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773936" y="26106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788920" y="2898648"/>
            <a:ext cx="493776" cy="49377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788920" y="2898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036869" y="2734056"/>
            <a:ext cx="493776" cy="49377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036869" y="2734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465576" y="4462272"/>
            <a:ext cx="493776" cy="49377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65576" y="4462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3330245" y="1993392"/>
            <a:ext cx="493776" cy="49377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330245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  Carpooling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32104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 Strike watch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32104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 Scooters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32104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 GPS stop check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3210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 Check-in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32104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 Data stick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32104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 Voice desk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32104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 Judge every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Bundles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SOME IDEAS ARE ONE AGENT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566160" cy="40233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WATCH THE TRIP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926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92608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+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645920" y="2926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459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WHY TOGETHER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Before GPS: check-in. During GPS: stop check. One agent covers the whole trip.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97680" y="1828800"/>
            <a:ext cx="3566160" cy="40233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5720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KEEP TRAVEL ON PLAN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0" y="2926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0" y="292608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+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394960" y="2926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949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WHY TOGETHER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Re-plan broken legs. Scooters become one more option.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46720" y="1828800"/>
            <a:ext cx="3566160" cy="40233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3210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LEARN FROM EVERY DECISION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321040" y="2926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3210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+ any agent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WHY TOGETHER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32104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to any agent. Every rejection becomes an eval.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What we would build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WATCH THE TRIP, AND LEARN FROM EVERY “NO”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65960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E9F5F7"/>
          </a:solidFill>
          <a:ln w="12700">
            <a:solidFill>
              <a:srgbClr val="E9F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7B"/>
                </a:solidFill>
              </a:rPr>
              <a:t>PRIMARY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(5)+(4) Watch the trip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Real agent, On the road area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Your Bentley example, end to end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Decision cards are the control room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440680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96596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965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4617"/>
                </a:solidFill>
              </a:rPr>
              <a:t>LAYER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(8) Light version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697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Reject + why on each card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Typed checks on each run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Draft evals for review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069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WHAT THE DEMO SHOWS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3891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E9F6EF"/>
          </a:solidFill>
          <a:ln w="12700">
            <a:solidFill>
              <a:srgbClr val="E9F6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52"/>
                </a:solidFill>
              </a:rPr>
              <a:t>100 orders quiet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94560" y="475488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423160" y="43891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51460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 need a person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069080" y="475488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297680" y="43891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8912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Open one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943600" y="475488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172200" y="43891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364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Decide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18120" y="475488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046720" y="43891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E6E1D6"/>
          </a:solidFill>
          <a:ln w="12700">
            <a:solidFill>
              <a:srgbClr val="E6E1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3816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Reject with reason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692640" y="475488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921240" y="43891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012680" y="4389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4617"/>
                </a:solidFill>
              </a:rPr>
              <a:t>New check appears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Alternative: (2) Strike watch, if you want the travel area instead.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Before we build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FOUR QUICK QUESTIONS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828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Would you rather see “On the road” or “Driver travel” from us?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907792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090672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907792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packet has alerts and planning estimates but no GPS ping stream. Is a mocked stream fine?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986784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4169664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3986784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Is an eval layer on top of the agent interesting, or a distraction?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065776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5248656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5065776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Which of the eight would you use first in real operations?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Your call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WHICH ONE SHOULD WE BUILD?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307592" cy="2560320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377440"/>
            <a:ext cx="758952" cy="7589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377440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83280"/>
            <a:ext cx="1124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Carpooling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947672" y="2103120"/>
            <a:ext cx="1307592" cy="2560320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21992" y="2377440"/>
            <a:ext cx="758952" cy="7589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21992" y="2377440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039112" y="3383280"/>
            <a:ext cx="1124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Strike watch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46704" y="2103120"/>
            <a:ext cx="1307592" cy="2560320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21024" y="2377440"/>
            <a:ext cx="758952" cy="7589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21024" y="2377440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438144" y="3383280"/>
            <a:ext cx="1124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Scooters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45736" y="2103120"/>
            <a:ext cx="1307592" cy="2560320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0056" y="2377440"/>
            <a:ext cx="758952" cy="7589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0056" y="2377440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4837176" y="3383280"/>
            <a:ext cx="1124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GPS stop check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44768" y="2103120"/>
            <a:ext cx="1307592" cy="2560320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19088" y="2377440"/>
            <a:ext cx="758952" cy="7589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9088" y="2377440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3383280"/>
            <a:ext cx="1124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Check-in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543800" y="2103120"/>
            <a:ext cx="1307592" cy="2560320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818120" y="2377440"/>
            <a:ext cx="758952" cy="7589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18120" y="2377440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7635240" y="3383280"/>
            <a:ext cx="1124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stick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942832" y="2103120"/>
            <a:ext cx="1307592" cy="2560320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9217152" y="2377440"/>
            <a:ext cx="758952" cy="7589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17152" y="2377440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9034272" y="3383280"/>
            <a:ext cx="1124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Voice desk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0341864" y="2103120"/>
            <a:ext cx="1307592" cy="2560320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616184" y="2377440"/>
            <a:ext cx="758952" cy="75895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616184" y="2377440"/>
            <a:ext cx="7589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</a:t>
            </a:r>
            <a:endParaRPr lang="en-US" sz="2600" dirty="0"/>
          </a:p>
        </p:txBody>
      </p:sp>
      <p:sp>
        <p:nvSpPr>
          <p:cNvPr id="36" name="Text 33"/>
          <p:cNvSpPr txBox="1"/>
          <p:nvPr/>
        </p:nvSpPr>
        <p:spPr>
          <a:xfrm>
            <a:off x="10433304" y="3383280"/>
            <a:ext cx="1124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Judge every run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F1EA"/>
          </a:solidFill>
          <a:ln w="12700">
            <a:solidFill>
              <a:srgbClr val="FF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461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pick: (5)+(4) with (8)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Appendix A1</a:t>
            </a:r>
            <a:endParaRPr lang="en-US" sz="1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SOURCES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12064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Tag</a:t>
                      </a:r>
                      <a:endParaRPr lang="en-US" sz="1200" dirty="0"/>
                    </a:p>
                  </a:txBody>
                  <a:tcPr marL="109728" marR="109728" marT="0" marB="0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109728" marR="109728" marT="0" marB="0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Reliability</a:t>
                      </a:r>
                      <a:endParaRPr lang="en-US" sz="1200" dirty="0"/>
                    </a:p>
                  </a:txBody>
                  <a:tcPr marL="109728" marR="109728" marT="0" marB="0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Reddit Mono" pitchFamily="34" charset="0"/>
                          <a:ea typeface="Reddit Mono" pitchFamily="34" charset="-122"/>
                          <a:cs typeface="Reddit Mono" pitchFamily="34" charset="-120"/>
                        </a:rPr>
                        <a:t>BR</a:t>
                      </a:r>
                      <a:endParaRPr lang="en-US" sz="1200" dirty="0">
                        <a:latin typeface="Reddit Mono" charset="0"/>
                        <a:ea typeface="Reddit Mono" charset="0"/>
                        <a:cs typeface="Reddit Mono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PARTICIPANT-BRIEF.md and the brief PDF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High: official written text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Reddit Mono" pitchFamily="34" charset="0"/>
                          <a:ea typeface="Reddit Mono" pitchFamily="34" charset="-122"/>
                          <a:cs typeface="Reddit Mono" pitchFamily="34" charset="-120"/>
                        </a:rPr>
                        <a:t>OC</a:t>
                      </a:r>
                      <a:endParaRPr lang="en-US" sz="1200" dirty="0">
                        <a:latin typeface="Reddit Mono" charset="0"/>
                        <a:ea typeface="Reddit Mono" charset="0"/>
                        <a:cs typeface="Reddit Mono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OPERATIONS-CONTEXT.md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High: official written text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Reddit Mono" pitchFamily="34" charset="0"/>
                          <a:ea typeface="Reddit Mono" pitchFamily="34" charset="-122"/>
                          <a:cs typeface="Reddit Mono" pitchFamily="34" charset="-120"/>
                        </a:rPr>
                        <a:t>T1</a:t>
                      </a:r>
                      <a:endParaRPr lang="en-US" sz="1200" dirty="0">
                        <a:latin typeface="Reddit Mono" charset="0"/>
                        <a:ea typeface="Reddit Mono" charset="0"/>
                        <a:cs typeface="Reddit Mono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Transcript "Bahn express 01" (stage pitch)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Medium: auto-transcribed, some garbled passages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Reddit Mono" pitchFamily="34" charset="0"/>
                          <a:ea typeface="Reddit Mono" pitchFamily="34" charset="-122"/>
                          <a:cs typeface="Reddit Mono" pitchFamily="34" charset="-120"/>
                        </a:rPr>
                        <a:t>T2</a:t>
                      </a:r>
                      <a:endParaRPr lang="en-US" sz="1200" dirty="0">
                        <a:latin typeface="Reddit Mono" charset="0"/>
                        <a:ea typeface="Reddit Mono" charset="0"/>
                        <a:cs typeface="Reddit Mono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Transcript "Bahn express 02" (booth Q&amp;A)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Medium: auto-transcribed, speaker turns unlabeled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Reddit Mono" pitchFamily="34" charset="0"/>
                          <a:ea typeface="Reddit Mono" pitchFamily="34" charset="-122"/>
                          <a:cs typeface="Reddit Mono" pitchFamily="34" charset="-120"/>
                        </a:rPr>
                        <a:t>T3</a:t>
                      </a:r>
                      <a:endParaRPr lang="en-US" sz="1200" dirty="0">
                        <a:latin typeface="Reddit Mono" charset="0"/>
                        <a:ea typeface="Reddit Mono" charset="0"/>
                        <a:cs typeface="Reddit Mono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Transcript "Bahn express 03" (booth Q&amp;A)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Medium: auto-transcribed, speaker turns unlabeled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Known conflict: volume figures differ between the brief (25,000+ a year) and T1 ("over 5,000 last month"). The slides use the brief.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Appendix A2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ASSUMPTIONS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Made-up numbers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All prices, times and fees on the idea slides are made up, as the brief allows.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E6E1D6"/>
            </a:solidFill>
            <a:prstDash val="solid"/>
          </a:ln>
          <a:effectLst>
            <a:outerShdw sx="100000" sy="100000" kx="0" ky="0" algn="bl" rotWithShape="0" blurRad="50800" dist="12700" dir="5400000">
              <a:srgbClr val="423D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First-pass ratings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560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Ratings on the matrix and the value-vs-effort chart are our first pass. Bahn should correct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hn Control Room">
  <a:themeElements>
    <a:clrScheme name="Bahn Control Room">
      <a:dk1>
        <a:srgbClr val="12110E"/>
      </a:dk1>
      <a:lt1>
        <a:srgbClr val="FFFEF7"/>
      </a:lt1>
      <a:dk2>
        <a:srgbClr val="423D33"/>
      </a:dk2>
      <a:lt2>
        <a:srgbClr val="F5F3EC"/>
      </a:lt2>
      <a:accent1>
        <a:srgbClr val="FD4A61"/>
      </a:accent1>
      <a:accent2>
        <a:srgbClr val="FD6A31"/>
      </a:accent2>
      <a:accent3>
        <a:srgbClr val="43AFC1"/>
      </a:accent3>
      <a:accent4>
        <a:srgbClr val="29AF77"/>
      </a:accent4>
      <a:accent5>
        <a:srgbClr val="726958"/>
      </a:accent5>
      <a:accent6>
        <a:srgbClr val="CCC6BA"/>
      </a:accent6>
      <a:hlink>
        <a:srgbClr val="1F6F7B"/>
      </a:hlink>
      <a:folHlink>
        <a:srgbClr val="726958"/>
      </a:folHlink>
    </a:clrScheme>
    <a:fontScheme name="Bahn Control Room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Eight ways to give your agents more legwork</dc:title>
  <dc:subject>PptxGenJS Presentation</dc:subject>
  <dc:creator>Veikka Silvekoski</dc:creator>
  <cp:lastModifiedBy>Veikka Silvekoski</cp:lastModifiedBy>
  <cp:revision>1</cp:revision>
  <dcterms:created xsi:type="dcterms:W3CDTF">2026-10-24T13:51:02Z</dcterms:created>
  <dcterms:modified xsi:type="dcterms:W3CDTF">2026-10-24T13:51:02Z</dcterms:modified>
</cp:coreProperties>
</file>